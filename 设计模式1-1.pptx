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引子" id="{B8F9AD70-4624-4642-867E-A50EFBFB366D}">
          <p14:sldIdLst>
            <p14:sldId id="257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片头" id="{EDB37343-DD45-4638-90BE-F643C58D32CD}">
          <p14:sldIdLst/>
        </p14:section>
        <p14:section name="正文" id="{396F134D-199B-41C7-B9BD-B34DFE123E84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F3C"/>
    <a:srgbClr val="EEEEEE"/>
    <a:srgbClr val="1F87DD"/>
    <a:srgbClr val="232526"/>
    <a:srgbClr val="8C82FC"/>
    <a:srgbClr val="62D2A2"/>
    <a:srgbClr val="3EC1D3"/>
    <a:srgbClr val="F6F7D7"/>
    <a:srgbClr val="FF165D"/>
    <a:srgbClr val="FF9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68" autoAdjust="0"/>
    <p:restoredTop sz="81311" autoAdjust="0"/>
  </p:normalViewPr>
  <p:slideViewPr>
    <p:cSldViewPr snapToGrid="0">
      <p:cViewPr>
        <p:scale>
          <a:sx n="66" d="100"/>
          <a:sy n="66" d="100"/>
        </p:scale>
        <p:origin x="315" y="-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8924FA-4A65-4372-831E-260F01DDDA99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482DE-887E-4170-B89B-05AE318F29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5854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💥 </a:t>
            </a:r>
            <a:r>
              <a:rPr lang="en-US" altLang="zh-CN" b="1" dirty="0"/>
              <a:t>1. </a:t>
            </a:r>
            <a:r>
              <a:rPr lang="zh-CN" altLang="en-US" b="1" dirty="0"/>
              <a:t>问题（</a:t>
            </a:r>
            <a:r>
              <a:rPr lang="en-US" altLang="zh-CN" b="1" dirty="0"/>
              <a:t>Problem</a:t>
            </a:r>
            <a:r>
              <a:rPr lang="zh-CN" altLang="en-US" b="1" dirty="0"/>
              <a:t>）</a:t>
            </a:r>
          </a:p>
          <a:p>
            <a:r>
              <a:rPr lang="zh-CN" altLang="en-US" dirty="0"/>
              <a:t>在嵌入式系统中，不同的硬件设备（如不同温度传感器、通信接口、算法模块）往往需要不同的实现逻辑。</a:t>
            </a:r>
            <a:br>
              <a:rPr lang="zh-CN" altLang="en-US" dirty="0"/>
            </a:br>
            <a:r>
              <a:rPr lang="zh-CN" altLang="en-US" dirty="0"/>
              <a:t>如果直接在代码中用大量的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/ else</a:t>
            </a:r>
            <a:r>
              <a:rPr lang="zh-CN" altLang="en-US" dirty="0"/>
              <a:t> 或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switch</a:t>
            </a:r>
            <a:r>
              <a:rPr lang="zh-CN" altLang="en-US" dirty="0"/>
              <a:t> 判断来处理不同情况，</a:t>
            </a:r>
          </a:p>
          <a:p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解决方案（</a:t>
            </a:r>
            <a:r>
              <a:rPr lang="en-US" altLang="zh-CN" dirty="0"/>
              <a:t>Solution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解决方案（</a:t>
            </a:r>
            <a:r>
              <a:rPr lang="en-US" altLang="zh-CN" dirty="0"/>
              <a:t>Solution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将可变的算法或行为</a:t>
            </a:r>
            <a:r>
              <a:rPr lang="zh-CN" altLang="en-US" b="1" dirty="0"/>
              <a:t>抽象成一个独立的策略接口</a:t>
            </a:r>
            <a:r>
              <a:rPr lang="zh-CN" altLang="en-US" dirty="0"/>
              <a:t>（在</a:t>
            </a:r>
            <a:r>
              <a:rPr lang="en-US" altLang="zh-CN" dirty="0"/>
              <a:t>C</a:t>
            </a:r>
            <a:r>
              <a:rPr lang="zh-CN" altLang="en-US" dirty="0"/>
              <a:t>语言中，用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struct +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函数指针</a:t>
            </a:r>
            <a:r>
              <a:rPr lang="zh-CN" altLang="en-US" dirty="0"/>
              <a:t>表示）。</a:t>
            </a:r>
          </a:p>
          <a:p>
            <a:r>
              <a:rPr lang="zh-CN" altLang="en-US" dirty="0"/>
              <a:t>每种具体实现（如 </a:t>
            </a:r>
            <a:r>
              <a:rPr lang="en-US" altLang="zh-CN" dirty="0"/>
              <a:t>DS18B20</a:t>
            </a:r>
            <a:r>
              <a:rPr lang="zh-CN" altLang="en-US" dirty="0"/>
              <a:t>、</a:t>
            </a:r>
            <a:r>
              <a:rPr lang="en-US" altLang="zh-CN" dirty="0"/>
              <a:t>NTC</a:t>
            </a:r>
            <a:r>
              <a:rPr lang="zh-CN" altLang="en-US" dirty="0"/>
              <a:t>、</a:t>
            </a:r>
            <a:r>
              <a:rPr lang="en-US" altLang="zh-CN" dirty="0"/>
              <a:t>I2C</a:t>
            </a:r>
            <a:r>
              <a:rPr lang="zh-CN" altLang="en-US" dirty="0"/>
              <a:t>）对应一个策略实例，</a:t>
            </a:r>
            <a:br>
              <a:rPr lang="zh-CN" altLang="en-US" dirty="0"/>
            </a:br>
            <a:r>
              <a:rPr lang="zh-CN" altLang="en-US" dirty="0"/>
              <a:t>主程序只依赖抽象接口，不依赖具体实现。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🚀 </a:t>
            </a:r>
            <a:r>
              <a:rPr lang="en-US" altLang="zh-CN" b="1" dirty="0"/>
              <a:t>3. </a:t>
            </a:r>
            <a:r>
              <a:rPr lang="zh-CN" altLang="en-US" b="1" dirty="0"/>
              <a:t>效果（</a:t>
            </a:r>
            <a:r>
              <a:rPr lang="en-US" altLang="zh-CN" b="1" dirty="0"/>
              <a:t>Effect / Result</a:t>
            </a:r>
            <a:r>
              <a:rPr lang="zh-CN" altLang="en-US" b="1" dirty="0"/>
              <a:t>）</a:t>
            </a:r>
          </a:p>
          <a:p>
            <a:r>
              <a:rPr lang="zh-CN" altLang="en-US" dirty="0"/>
              <a:t>目标效果</a:t>
            </a:r>
            <a:r>
              <a:rPr lang="zh-CN" altLang="en-US" b="1" dirty="0"/>
              <a:t>解耦</a:t>
            </a:r>
            <a:r>
              <a:rPr lang="zh-CN" altLang="en-US" dirty="0"/>
              <a:t>主控制逻辑不依赖具体传感器实现。</a:t>
            </a:r>
            <a:r>
              <a:rPr lang="zh-CN" altLang="en-US" b="1" dirty="0"/>
              <a:t>扩展性</a:t>
            </a:r>
            <a:r>
              <a:rPr lang="zh-CN" altLang="en-US" dirty="0"/>
              <a:t>新增传感器时只需新增一个策略结构体。</a:t>
            </a:r>
            <a:r>
              <a:rPr lang="zh-CN" altLang="en-US" b="1" dirty="0"/>
              <a:t>灵活性</a:t>
            </a:r>
            <a:r>
              <a:rPr lang="zh-CN" altLang="en-US" dirty="0"/>
              <a:t>可以在运行时自由切换读数策略。</a:t>
            </a:r>
            <a:r>
              <a:rPr lang="zh-CN" altLang="en-US" b="1" dirty="0"/>
              <a:t>可测试性</a:t>
            </a:r>
            <a:r>
              <a:rPr lang="zh-CN" altLang="en-US" dirty="0"/>
              <a:t>可单独测试各个传感器的实现函数。</a:t>
            </a:r>
            <a:r>
              <a:rPr lang="zh-CN" altLang="en-US" b="1" dirty="0"/>
              <a:t>可维护性</a:t>
            </a:r>
            <a:r>
              <a:rPr lang="zh-CN" altLang="en-US" dirty="0"/>
              <a:t>代码结构清晰，无需堆叠 </a:t>
            </a:r>
            <a:r>
              <a:rPr lang="en-US" altLang="zh-CN" dirty="0"/>
              <a:t>if/else</a:t>
            </a:r>
            <a:r>
              <a:rPr lang="zh-CN" altLang="en-US" dirty="0"/>
              <a:t>。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2482DE-887E-4170-B89B-05AE318F29C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385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8E9B4-4880-CBF8-1B37-EE157E299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A2EEC2D-2119-4B5A-8360-A362370458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916F8F0-016C-95B3-2709-8FB1E40F99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375D7B-3D65-641B-65C6-987B1A062D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2482DE-887E-4170-B89B-05AE318F29C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92902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16815-1D77-6DD2-5A9E-C8ADFF51A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40C176-E6FF-9829-5604-218C7F189F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5922468-AA4C-B215-B5E2-B11244B66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DE15EB-4FEB-EC52-4707-E26159B037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2482DE-887E-4170-B89B-05AE318F29C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96758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0A96D-5071-A423-BE57-C0A4F7535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0A4A88F-062D-2D1F-8710-C3A33D72D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A8CED9A-5E3C-58A5-7AA2-0B8490C797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2AEFA7-6D23-E492-2677-293D0346DC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2482DE-887E-4170-B89B-05AE318F29C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14013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C5D49-5671-463F-52FF-1201DF413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CABA11D-028F-8305-3AEE-58E477C3C5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6A8FA16-154D-475E-1A19-FA315CEBF5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E3E417-C908-6056-B8CA-A78FBC4D3F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2482DE-887E-4170-B89B-05AE318F29C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3115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1D05A-7303-A430-AC35-83C29F73A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BA9D82F-ABB5-74A9-1792-DDABB783BB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ABD4C69-26D9-9904-4181-8FDDB6D72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7547A8-FCE2-C561-A6E3-8B88434D82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2482DE-887E-4170-B89B-05AE318F29C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4053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FF7AC-040D-E235-5BB4-4BFF074EA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DEF21DB-F901-AACD-BA2B-CC93AFF8F0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52BA1A9-43CA-3604-1F57-94639CBB54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405EC5-EC5A-8F77-41A4-B3473F1EA3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2482DE-887E-4170-B89B-05AE318F29C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77396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D4186-BF05-3315-2A7A-639D079C6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ED09BE-2117-FF80-E4F3-E6C529931C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12C991F-55B0-7433-8391-24FF764B73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D3648F-3E1A-B3AF-4F1B-3A28CFF625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2482DE-887E-4170-B89B-05AE318F29C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75130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44859-6D41-D658-36A9-9B5F2FECF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C2F6CD4-0337-0135-C7C6-F54BED6D38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844D24D-95CD-FADC-C5D3-80CCA60F52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0AB17F-6BCC-ED50-E39C-D90C620C3D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2482DE-887E-4170-B89B-05AE318F29C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2999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44D9E-1ADC-E3FA-3B10-3819CB907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BBB95F-5247-31EF-0043-B2919D474D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DD0696-AD2D-7157-00D2-B4692B57D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790FEA-5BF7-5B8B-5D33-D74AC127A6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2482DE-887E-4170-B89B-05AE318F29C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41526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62A4C-DEE7-F13F-7B17-839742935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327D94C-699D-383A-4683-D4CF938E5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D04B8E7-5111-CD20-BE69-5415B64B3E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58B2F2-EA2E-3E87-5A5C-A937A3B88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2482DE-887E-4170-B89B-05AE318F29C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341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99EC0-AE26-FD6F-5FDE-F5C9C0263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80F30E-91EB-63A3-8090-1FA4386700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9EACC47-5446-FA9F-35AD-FD96B4F354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1F28FC-B713-D665-1813-76FEA60D48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2482DE-887E-4170-B89B-05AE318F29C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4114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7926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CD87DCBF-80BA-A48B-D2CF-87B3E4BAA745}"/>
              </a:ext>
            </a:extLst>
          </p:cNvPr>
          <p:cNvSpPr txBox="1"/>
          <p:nvPr userDrawn="1"/>
        </p:nvSpPr>
        <p:spPr>
          <a:xfrm>
            <a:off x="2148114" y="1030514"/>
            <a:ext cx="3207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FF9A00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输入标题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68E5957-CCEB-9035-2393-0775575A4587}"/>
              </a:ext>
            </a:extLst>
          </p:cNvPr>
          <p:cNvSpPr txBox="1"/>
          <p:nvPr userDrawn="1"/>
        </p:nvSpPr>
        <p:spPr>
          <a:xfrm>
            <a:off x="2148114" y="2198914"/>
            <a:ext cx="3207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FF165D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输入标题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2AED488-728E-CC7E-CA00-0D5F00D8A856}"/>
              </a:ext>
            </a:extLst>
          </p:cNvPr>
          <p:cNvSpPr txBox="1"/>
          <p:nvPr userDrawn="1"/>
        </p:nvSpPr>
        <p:spPr>
          <a:xfrm>
            <a:off x="2148113" y="3367314"/>
            <a:ext cx="3207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F6F7D7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输入标题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6FE6B95-CBA0-A2B9-6AC8-5E31194E08CC}"/>
              </a:ext>
            </a:extLst>
          </p:cNvPr>
          <p:cNvSpPr txBox="1"/>
          <p:nvPr userDrawn="1"/>
        </p:nvSpPr>
        <p:spPr>
          <a:xfrm>
            <a:off x="2148112" y="4442492"/>
            <a:ext cx="3207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3EC1D3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输入标题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630AB44-79BC-96CD-3EAD-540A21F20649}"/>
              </a:ext>
            </a:extLst>
          </p:cNvPr>
          <p:cNvSpPr txBox="1"/>
          <p:nvPr userDrawn="1"/>
        </p:nvSpPr>
        <p:spPr>
          <a:xfrm>
            <a:off x="5355769" y="1030514"/>
            <a:ext cx="3207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62D2A2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输入标题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1794EAA-BF37-E4D3-8FB0-B0F934F9CE57}"/>
              </a:ext>
            </a:extLst>
          </p:cNvPr>
          <p:cNvSpPr txBox="1"/>
          <p:nvPr userDrawn="1"/>
        </p:nvSpPr>
        <p:spPr>
          <a:xfrm>
            <a:off x="5355771" y="2198914"/>
            <a:ext cx="3207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8C82FC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输入标题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4202442-1A58-8BFA-9C80-0277D288394D}"/>
              </a:ext>
            </a:extLst>
          </p:cNvPr>
          <p:cNvSpPr txBox="1"/>
          <p:nvPr userDrawn="1"/>
        </p:nvSpPr>
        <p:spPr>
          <a:xfrm>
            <a:off x="5355769" y="3429000"/>
            <a:ext cx="3207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FF6F3C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输入标题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7C5F8E5-0264-8BBA-991E-A458BDD87B46}"/>
              </a:ext>
            </a:extLst>
          </p:cNvPr>
          <p:cNvSpPr txBox="1"/>
          <p:nvPr userDrawn="1"/>
        </p:nvSpPr>
        <p:spPr>
          <a:xfrm>
            <a:off x="5355769" y="4478778"/>
            <a:ext cx="3207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EEEEEE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输入标题</a:t>
            </a:r>
          </a:p>
        </p:txBody>
      </p:sp>
    </p:spTree>
    <p:extLst>
      <p:ext uri="{BB962C8B-B14F-4D97-AF65-F5344CB8AC3E}">
        <p14:creationId xmlns:p14="http://schemas.microsoft.com/office/powerpoint/2010/main" val="28204804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rgbClr val="232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EB9FE49-1B7E-9AAF-4D29-1348277D22BD}"/>
              </a:ext>
            </a:extLst>
          </p:cNvPr>
          <p:cNvSpPr/>
          <p:nvPr userDrawn="1"/>
        </p:nvSpPr>
        <p:spPr>
          <a:xfrm>
            <a:off x="6096000" y="1062264"/>
            <a:ext cx="3293831" cy="829894"/>
          </a:xfrm>
          <a:prstGeom prst="roundRect">
            <a:avLst/>
          </a:prstGeom>
          <a:solidFill>
            <a:srgbClr val="62D2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aseline="0" dirty="0">
              <a:latin typeface="钉钉进步体" panose="00020600040101010101" pitchFamily="18" charset="-122"/>
              <a:ea typeface="钉钉进步体" panose="00020600040101010101" pitchFamily="18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5CE16D4-C4EF-475D-7FE0-80D469854E38}"/>
              </a:ext>
            </a:extLst>
          </p:cNvPr>
          <p:cNvSpPr/>
          <p:nvPr userDrawn="1"/>
        </p:nvSpPr>
        <p:spPr>
          <a:xfrm>
            <a:off x="6095999" y="2260600"/>
            <a:ext cx="3293831" cy="829894"/>
          </a:xfrm>
          <a:prstGeom prst="roundRect">
            <a:avLst/>
          </a:prstGeom>
          <a:solidFill>
            <a:srgbClr val="8C82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aseline="0" dirty="0">
              <a:latin typeface="钉钉进步体" panose="00020600040101010101" pitchFamily="18" charset="-122"/>
              <a:ea typeface="钉钉进步体" panose="00020600040101010101" pitchFamily="18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7520711-36BE-1AEC-79FF-4B29F1AEBF95}"/>
              </a:ext>
            </a:extLst>
          </p:cNvPr>
          <p:cNvSpPr/>
          <p:nvPr userDrawn="1"/>
        </p:nvSpPr>
        <p:spPr>
          <a:xfrm>
            <a:off x="6095999" y="3460750"/>
            <a:ext cx="3293831" cy="829894"/>
          </a:xfrm>
          <a:prstGeom prst="roundRect">
            <a:avLst/>
          </a:prstGeom>
          <a:solidFill>
            <a:srgbClr val="FF6F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aseline="0" dirty="0">
              <a:latin typeface="钉钉进步体" panose="00020600040101010101" pitchFamily="18" charset="-122"/>
              <a:ea typeface="钉钉进步体" panose="00020600040101010101" pitchFamily="18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15664DA1-2B61-18C1-853C-2BA880E788A9}"/>
              </a:ext>
            </a:extLst>
          </p:cNvPr>
          <p:cNvSpPr/>
          <p:nvPr userDrawn="1"/>
        </p:nvSpPr>
        <p:spPr>
          <a:xfrm>
            <a:off x="6095998" y="4554000"/>
            <a:ext cx="3293831" cy="829894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aseline="0" dirty="0">
              <a:latin typeface="钉钉进步体" panose="00020600040101010101" pitchFamily="18" charset="-122"/>
              <a:ea typeface="钉钉进步体" panose="00020600040101010101" pitchFamily="18" charset="-122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D05EAAF-E930-C321-333C-C1B747D04D58}"/>
              </a:ext>
            </a:extLst>
          </p:cNvPr>
          <p:cNvSpPr/>
          <p:nvPr userDrawn="1"/>
        </p:nvSpPr>
        <p:spPr>
          <a:xfrm>
            <a:off x="1416505" y="1062264"/>
            <a:ext cx="3293831" cy="829894"/>
          </a:xfrm>
          <a:prstGeom prst="roundRect">
            <a:avLst/>
          </a:prstGeom>
          <a:solidFill>
            <a:srgbClr val="FF9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aseline="0" dirty="0">
              <a:solidFill>
                <a:srgbClr val="FF9A00"/>
              </a:solidFill>
              <a:latin typeface="钉钉进步体" panose="00020600040101010101" pitchFamily="18" charset="-122"/>
              <a:ea typeface="钉钉进步体" panose="00020600040101010101" pitchFamily="18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12A8B8A4-A9C4-6CDD-DE47-3194B7B1C878}"/>
              </a:ext>
            </a:extLst>
          </p:cNvPr>
          <p:cNvSpPr/>
          <p:nvPr userDrawn="1"/>
        </p:nvSpPr>
        <p:spPr>
          <a:xfrm>
            <a:off x="1416503" y="4554000"/>
            <a:ext cx="3293831" cy="829894"/>
          </a:xfrm>
          <a:prstGeom prst="roundRect">
            <a:avLst/>
          </a:prstGeom>
          <a:solidFill>
            <a:srgbClr val="3EC1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aseline="0" dirty="0">
              <a:latin typeface="钉钉进步体" panose="00020600040101010101" pitchFamily="18" charset="-122"/>
              <a:ea typeface="钉钉进步体" panose="00020600040101010101" pitchFamily="18" charset="-122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0BEB19D-2611-C23F-D507-2F7520F198FA}"/>
              </a:ext>
            </a:extLst>
          </p:cNvPr>
          <p:cNvSpPr/>
          <p:nvPr userDrawn="1"/>
        </p:nvSpPr>
        <p:spPr>
          <a:xfrm>
            <a:off x="1416503" y="2229757"/>
            <a:ext cx="3293831" cy="829894"/>
          </a:xfrm>
          <a:prstGeom prst="roundRect">
            <a:avLst/>
          </a:prstGeom>
          <a:solidFill>
            <a:srgbClr val="FF16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aseline="0" dirty="0">
              <a:latin typeface="钉钉进步体" panose="00020600040101010101" pitchFamily="18" charset="-122"/>
              <a:ea typeface="钉钉进步体" panose="00020600040101010101" pitchFamily="18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338246DC-75A5-8702-030E-AF21571966B0}"/>
              </a:ext>
            </a:extLst>
          </p:cNvPr>
          <p:cNvSpPr/>
          <p:nvPr userDrawn="1"/>
        </p:nvSpPr>
        <p:spPr>
          <a:xfrm>
            <a:off x="1416503" y="3429907"/>
            <a:ext cx="3293831" cy="829894"/>
          </a:xfrm>
          <a:prstGeom prst="roundRect">
            <a:avLst/>
          </a:prstGeom>
          <a:solidFill>
            <a:srgbClr val="F6F7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aseline="0" dirty="0">
              <a:latin typeface="钉钉进步体" panose="00020600040101010101" pitchFamily="18" charset="-122"/>
              <a:ea typeface="钉钉进步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35838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2CC75-8280-4D50-8556-C2874ADEF926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90E77-D57C-49F8-ADC2-FB99C50EBC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36783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  <p:hf sldNum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DA0BB9-BB00-C878-2345-583447454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2BFCD5-588E-F7D5-E215-7EDA54AF52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72E1EA-71EB-469D-B2F5-9F0C790C7C93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9FA054-073F-F5E2-61CD-71554BCC0A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09118F-43FC-E40F-6458-993007A0C8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A1C58-BC0D-4DA9-93E3-8E096B5141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354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-698500" y="-582990"/>
            <a:ext cx="13589000" cy="8023980"/>
            <a:chOff x="-863600" y="-584200"/>
            <a:chExt cx="13335000" cy="7874000"/>
          </a:xfrm>
          <a:solidFill>
            <a:srgbClr val="E6E6E6"/>
          </a:solidFill>
        </p:grpSpPr>
        <p:grpSp>
          <p:nvGrpSpPr>
            <p:cNvPr id="4" name="组合 3"/>
            <p:cNvGrpSpPr/>
            <p:nvPr/>
          </p:nvGrpSpPr>
          <p:grpSpPr>
            <a:xfrm>
              <a:off x="-8636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2" name="椭圆 1"/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  <p:sp>
            <p:nvSpPr>
              <p:cNvPr id="3" name="椭圆 2"/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123063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6" name="椭圆 5"/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  <p:sp>
            <p:nvSpPr>
              <p:cNvPr id="7" name="椭圆 6"/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</p:grpSp>
      </p:grpSp>
      <p:sp>
        <p:nvSpPr>
          <p:cNvPr id="12" name="TextBox 26"/>
          <p:cNvSpPr txBox="1"/>
          <p:nvPr/>
        </p:nvSpPr>
        <p:spPr>
          <a:xfrm>
            <a:off x="5460315" y="2795034"/>
            <a:ext cx="64171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5400" dirty="0">
                <a:solidFill>
                  <a:srgbClr val="000000"/>
                </a:solidFill>
                <a:latin typeface="钉钉进步体" panose="00020600040101010101" pitchFamily="18" charset="-122"/>
                <a:ea typeface="钉钉进步体" panose="00020600040101010101" pitchFamily="18" charset="-122"/>
                <a:cs typeface="+mn-ea"/>
                <a:sym typeface="+mn-lt"/>
              </a:rPr>
              <a:t>面向嵌入式软件开发</a:t>
            </a:r>
            <a:endParaRPr lang="en-US" altLang="zh-CN" sz="5400" dirty="0">
              <a:solidFill>
                <a:srgbClr val="000000"/>
              </a:solidFill>
              <a:latin typeface="钉钉进步体" panose="00020600040101010101" pitchFamily="18" charset="-122"/>
              <a:ea typeface="钉钉进步体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13" name="TextBox 32"/>
          <p:cNvSpPr txBox="1"/>
          <p:nvPr/>
        </p:nvSpPr>
        <p:spPr>
          <a:xfrm>
            <a:off x="3833294" y="548534"/>
            <a:ext cx="45254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1218565"/>
            <a:r>
              <a:rPr lang="zh-CN" altLang="en-US" sz="1200" dirty="0">
                <a:solidFill>
                  <a:srgbClr val="000000"/>
                </a:solidFill>
                <a:latin typeface="钉钉进步体" panose="00020600040101010101" pitchFamily="18" charset="-122"/>
                <a:ea typeface="钉钉进步体" panose="00020600040101010101" pitchFamily="18" charset="-122"/>
                <a:cs typeface="+mn-ea"/>
                <a:sym typeface="+mn-lt"/>
              </a:rPr>
              <a:t>设计模式</a:t>
            </a:r>
            <a:r>
              <a:rPr lang="en-US" altLang="zh-CN" sz="1200" dirty="0">
                <a:solidFill>
                  <a:srgbClr val="000000"/>
                </a:solidFill>
                <a:latin typeface="钉钉进步体" panose="00020600040101010101" pitchFamily="18" charset="-122"/>
                <a:ea typeface="钉钉进步体" panose="00020600040101010101" pitchFamily="18" charset="-122"/>
                <a:cs typeface="+mn-ea"/>
                <a:sym typeface="+mn-lt"/>
              </a:rPr>
              <a:t>/</a:t>
            </a:r>
            <a:r>
              <a:rPr lang="zh-CN" altLang="en-US" sz="1200" dirty="0">
                <a:solidFill>
                  <a:srgbClr val="000000"/>
                </a:solidFill>
                <a:latin typeface="钉钉进步体" panose="00020600040101010101" pitchFamily="18" charset="-122"/>
                <a:ea typeface="钉钉进步体" panose="00020600040101010101" pitchFamily="18" charset="-122"/>
                <a:cs typeface="+mn-ea"/>
                <a:sym typeface="+mn-lt"/>
              </a:rPr>
              <a:t>面向嵌入式软件开发的进阶学习教程</a:t>
            </a:r>
          </a:p>
        </p:txBody>
      </p:sp>
      <p:sp>
        <p:nvSpPr>
          <p:cNvPr id="14" name="TextBox 12"/>
          <p:cNvSpPr txBox="1"/>
          <p:nvPr/>
        </p:nvSpPr>
        <p:spPr>
          <a:xfrm>
            <a:off x="5460315" y="1307475"/>
            <a:ext cx="491031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 spc="-400" dirty="0">
                <a:gradFill flip="none" rotWithShape="1">
                  <a:gsLst>
                    <a:gs pos="31000">
                      <a:srgbClr val="3D3DBF"/>
                    </a:gs>
                    <a:gs pos="72000">
                      <a:srgbClr val="FF9FB4"/>
                    </a:gs>
                  </a:gsLst>
                  <a:lin ang="2700000" scaled="1"/>
                </a:gra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钉钉进步体" panose="00020600040101010101" pitchFamily="18" charset="-122"/>
                <a:ea typeface="钉钉进步体" panose="00020600040101010101" pitchFamily="18" charset="-122"/>
                <a:cs typeface="+mn-ea"/>
                <a:sym typeface="+mn-lt"/>
              </a:rPr>
              <a:t>设计模式</a:t>
            </a:r>
            <a:endParaRPr lang="en-US" altLang="zh-CN" sz="9600" b="1" spc="-400" dirty="0">
              <a:gradFill flip="none" rotWithShape="1">
                <a:gsLst>
                  <a:gs pos="31000">
                    <a:srgbClr val="3D3DBF"/>
                  </a:gs>
                  <a:gs pos="72000">
                    <a:srgbClr val="FF9FB4"/>
                  </a:gs>
                </a:gsLst>
                <a:lin ang="2700000" scaled="1"/>
              </a:gra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钉钉进步体" panose="00020600040101010101" pitchFamily="18" charset="-122"/>
              <a:ea typeface="钉钉进步体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153818" y="4364694"/>
            <a:ext cx="2984082" cy="1018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sz="1400" b="0" i="0" u="none" strike="noStrike" dirty="0">
                <a:solidFill>
                  <a:schemeClr val="bg1">
                    <a:lumMod val="75000"/>
                  </a:schemeClr>
                </a:solidFill>
                <a:effectLst/>
                <a:latin typeface="钉钉进步体" panose="00020600040101010101" pitchFamily="18" charset="-122"/>
                <a:ea typeface="钉钉进步体" panose="00020600040101010101" pitchFamily="18" charset="-122"/>
                <a:cs typeface="+mn-ea"/>
                <a:sym typeface="+mn-lt"/>
              </a:rPr>
              <a:t>针对</a:t>
            </a:r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  <a:cs typeface="+mn-ea"/>
                <a:sym typeface="+mn-lt"/>
              </a:rPr>
              <a:t>C</a:t>
            </a: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  <a:cs typeface="+mn-ea"/>
                <a:sym typeface="+mn-lt"/>
              </a:rPr>
              <a:t>语言及嵌入式软件开发的</a:t>
            </a:r>
            <a:endParaRPr lang="en-US" altLang="zh-CN" sz="1400" dirty="0">
              <a:solidFill>
                <a:schemeClr val="bg1">
                  <a:lumMod val="75000"/>
                </a:schemeClr>
              </a:solidFill>
              <a:latin typeface="钉钉进步体" panose="00020600040101010101" pitchFamily="18" charset="-122"/>
              <a:ea typeface="钉钉进步体" panose="00020600040101010101" pitchFamily="18" charset="-122"/>
              <a:cs typeface="+mn-ea"/>
              <a:sym typeface="+mn-lt"/>
            </a:endParaRPr>
          </a:p>
          <a:p>
            <a:pPr>
              <a:lnSpc>
                <a:spcPts val="2500"/>
              </a:lnSpc>
            </a:pP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  <a:cs typeface="+mn-ea"/>
                <a:sym typeface="+mn-lt"/>
              </a:rPr>
              <a:t>伴读教程，陪伴学习设计模式这一进阶知识点。</a:t>
            </a:r>
            <a:endParaRPr lang="en-US" altLang="zh-CN" sz="1400" dirty="0">
              <a:solidFill>
                <a:schemeClr val="bg1">
                  <a:lumMod val="75000"/>
                </a:schemeClr>
              </a:solidFill>
              <a:latin typeface="钉钉进步体" panose="00020600040101010101" pitchFamily="18" charset="-122"/>
              <a:ea typeface="钉钉进步体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24" name="等腰三角形 23"/>
          <p:cNvSpPr/>
          <p:nvPr/>
        </p:nvSpPr>
        <p:spPr>
          <a:xfrm flipH="1" flipV="1">
            <a:off x="1447800" y="1012059"/>
            <a:ext cx="749300" cy="645948"/>
          </a:xfrm>
          <a:prstGeom prst="triangle">
            <a:avLst>
              <a:gd name="adj" fmla="val 100000"/>
            </a:avLst>
          </a:prstGeom>
          <a:gradFill flip="none" rotWithShape="1">
            <a:gsLst>
              <a:gs pos="0">
                <a:srgbClr val="3D3DBF">
                  <a:alpha val="13000"/>
                </a:srgbClr>
              </a:gs>
              <a:gs pos="100000">
                <a:srgbClr val="3D3DBF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钉钉进步体" panose="00020600040101010101" pitchFamily="18" charset="-122"/>
              <a:ea typeface="钉钉进步体" panose="00020600040101010101" pitchFamily="18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4D64A26-30C6-FD8B-C0FA-AFC29D6CB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216123"/>
            <a:ext cx="3250450" cy="4784446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2C247BE-6556-EC9A-5DD6-54B290DFB0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11" t="9639" r="8885" b="9639"/>
          <a:stretch>
            <a:fillRect/>
          </a:stretch>
        </p:blipFill>
        <p:spPr>
          <a:xfrm>
            <a:off x="5579195" y="3935791"/>
            <a:ext cx="2166701" cy="21795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21" name="箭头: 燕尾形 20">
            <a:extLst>
              <a:ext uri="{FF2B5EF4-FFF2-40B4-BE49-F238E27FC236}">
                <a16:creationId xmlns:a16="http://schemas.microsoft.com/office/drawing/2014/main" id="{1712A4F8-0E28-F5E2-0F1B-30A39960FAC3}"/>
              </a:ext>
            </a:extLst>
          </p:cNvPr>
          <p:cNvSpPr/>
          <p:nvPr/>
        </p:nvSpPr>
        <p:spPr>
          <a:xfrm>
            <a:off x="-8134987" y="1542199"/>
            <a:ext cx="7520609" cy="3428999"/>
          </a:xfrm>
          <a:prstGeom prst="notched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5400" dirty="0"/>
              <a:t>第一章 </a:t>
            </a:r>
            <a:r>
              <a:rPr lang="en-US" altLang="zh-CN" sz="5400" dirty="0"/>
              <a:t> </a:t>
            </a:r>
            <a:r>
              <a:rPr lang="zh-CN" altLang="en-US" sz="5400" dirty="0"/>
              <a:t>引言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-698500" y="-582990"/>
            <a:ext cx="13589000" cy="8023980"/>
            <a:chOff x="-863600" y="-584200"/>
            <a:chExt cx="13335000" cy="7874000"/>
          </a:xfrm>
          <a:solidFill>
            <a:srgbClr val="E6E6E6"/>
          </a:solidFill>
        </p:grpSpPr>
        <p:grpSp>
          <p:nvGrpSpPr>
            <p:cNvPr id="4" name="组合 3"/>
            <p:cNvGrpSpPr/>
            <p:nvPr/>
          </p:nvGrpSpPr>
          <p:grpSpPr>
            <a:xfrm>
              <a:off x="-8636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2" name="椭圆 1"/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  <p:sp>
            <p:nvSpPr>
              <p:cNvPr id="3" name="椭圆 2"/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123063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6" name="椭圆 5"/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  <p:sp>
            <p:nvSpPr>
              <p:cNvPr id="7" name="椭圆 6"/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</p:grpSp>
      </p:grpSp>
      <p:sp>
        <p:nvSpPr>
          <p:cNvPr id="14" name="箭头: 燕尾形 13">
            <a:extLst>
              <a:ext uri="{FF2B5EF4-FFF2-40B4-BE49-F238E27FC236}">
                <a16:creationId xmlns:a16="http://schemas.microsoft.com/office/drawing/2014/main" id="{3C00CCF6-D183-E4E9-F539-533CBCACBCDE}"/>
              </a:ext>
            </a:extLst>
          </p:cNvPr>
          <p:cNvSpPr/>
          <p:nvPr/>
        </p:nvSpPr>
        <p:spPr>
          <a:xfrm>
            <a:off x="2617305" y="1490869"/>
            <a:ext cx="7520609" cy="3428999"/>
          </a:xfrm>
          <a:prstGeom prst="notched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5400" dirty="0"/>
              <a:t>第一章 </a:t>
            </a:r>
            <a:r>
              <a:rPr lang="en-US" altLang="zh-CN" sz="5400" dirty="0"/>
              <a:t> </a:t>
            </a:r>
            <a:r>
              <a:rPr lang="zh-CN" altLang="en-US" sz="5400" dirty="0"/>
              <a:t>引言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27B98-2EFA-9B8D-4C3A-6E83AB8D9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96EAE179-5492-F2F6-CC86-D0B4B1647E79}"/>
              </a:ext>
            </a:extLst>
          </p:cNvPr>
          <p:cNvGrpSpPr/>
          <p:nvPr/>
        </p:nvGrpSpPr>
        <p:grpSpPr>
          <a:xfrm>
            <a:off x="-698500" y="-582990"/>
            <a:ext cx="13589000" cy="8023980"/>
            <a:chOff x="-863600" y="-584200"/>
            <a:chExt cx="13335000" cy="7874000"/>
          </a:xfrm>
          <a:solidFill>
            <a:srgbClr val="E6E6E6"/>
          </a:solidFill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E178EE58-793C-7A38-DD20-42CF88DE84DE}"/>
                </a:ext>
              </a:extLst>
            </p:cNvPr>
            <p:cNvGrpSpPr/>
            <p:nvPr/>
          </p:nvGrpSpPr>
          <p:grpSpPr>
            <a:xfrm>
              <a:off x="-8636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2" name="椭圆 1">
                <a:extLst>
                  <a:ext uri="{FF2B5EF4-FFF2-40B4-BE49-F238E27FC236}">
                    <a16:creationId xmlns:a16="http://schemas.microsoft.com/office/drawing/2014/main" id="{84B3EA23-FB11-4C42-7F87-9242B6332227}"/>
                  </a:ext>
                </a:extLst>
              </p:cNvPr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A259739E-F5D3-06BB-DEE9-7EE9F2501DEE}"/>
                  </a:ext>
                </a:extLst>
              </p:cNvPr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87E5CBC7-8D96-D8B5-E244-6BC75F4F7535}"/>
                </a:ext>
              </a:extLst>
            </p:cNvPr>
            <p:cNvGrpSpPr/>
            <p:nvPr/>
          </p:nvGrpSpPr>
          <p:grpSpPr>
            <a:xfrm>
              <a:off x="123063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2647BDF6-20FC-85CD-088B-E6F234E6B69A}"/>
                  </a:ext>
                </a:extLst>
              </p:cNvPr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43001323-102A-FEDD-92DA-44FF77220099}"/>
                  </a:ext>
                </a:extLst>
              </p:cNvPr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</p:grpSp>
      </p:grpSp>
      <p:sp>
        <p:nvSpPr>
          <p:cNvPr id="14" name="箭头: 燕尾形 13">
            <a:extLst>
              <a:ext uri="{FF2B5EF4-FFF2-40B4-BE49-F238E27FC236}">
                <a16:creationId xmlns:a16="http://schemas.microsoft.com/office/drawing/2014/main" id="{E835DD9B-6F02-9E2F-745B-D210BA75D2BB}"/>
              </a:ext>
            </a:extLst>
          </p:cNvPr>
          <p:cNvSpPr/>
          <p:nvPr/>
        </p:nvSpPr>
        <p:spPr>
          <a:xfrm>
            <a:off x="13132905" y="1714500"/>
            <a:ext cx="7520609" cy="3428999"/>
          </a:xfrm>
          <a:prstGeom prst="notched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5400" dirty="0"/>
              <a:t>第一章 </a:t>
            </a:r>
            <a:r>
              <a:rPr lang="en-US" altLang="zh-CN" sz="5400" dirty="0"/>
              <a:t> </a:t>
            </a:r>
            <a:r>
              <a:rPr lang="zh-CN" altLang="en-US" sz="5400" dirty="0"/>
              <a:t>引言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A49926D-DB7F-0D87-A63C-50FC38C01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025" y="681902"/>
            <a:ext cx="9074370" cy="502661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9424295-6043-0295-B780-B1EBFEBF5BC2}"/>
              </a:ext>
            </a:extLst>
          </p:cNvPr>
          <p:cNvSpPr/>
          <p:nvPr/>
        </p:nvSpPr>
        <p:spPr>
          <a:xfrm>
            <a:off x="3061854" y="4966854"/>
            <a:ext cx="5056910" cy="1572491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dirty="0"/>
              <a:t>C </a:t>
            </a:r>
            <a:r>
              <a:rPr lang="zh-CN" altLang="en-US" sz="4800" dirty="0"/>
              <a:t>！！！ 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E143C28-130F-9BAA-DD7E-74B7D9EDAD9D}"/>
              </a:ext>
            </a:extLst>
          </p:cNvPr>
          <p:cNvSpPr/>
          <p:nvPr/>
        </p:nvSpPr>
        <p:spPr>
          <a:xfrm>
            <a:off x="3110345" y="1402772"/>
            <a:ext cx="5056910" cy="1572491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dirty="0"/>
              <a:t>C++ /Java  ?</a:t>
            </a:r>
            <a:endParaRPr lang="zh-CN" altLang="en-US" sz="48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0FD0711-B651-3F4A-F149-3F8BEA3E6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570" y="3273784"/>
            <a:ext cx="9451950" cy="139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3312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1BD60-0B49-596D-618C-C7A02460F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D3E75BF7-87CE-9FD2-4FCA-38D2F94E9710}"/>
              </a:ext>
            </a:extLst>
          </p:cNvPr>
          <p:cNvGrpSpPr/>
          <p:nvPr/>
        </p:nvGrpSpPr>
        <p:grpSpPr>
          <a:xfrm>
            <a:off x="-698500" y="-582990"/>
            <a:ext cx="13589000" cy="8023980"/>
            <a:chOff x="-863600" y="-584200"/>
            <a:chExt cx="13335000" cy="7874000"/>
          </a:xfrm>
          <a:solidFill>
            <a:srgbClr val="E6E6E6"/>
          </a:solidFill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8E0BFBF2-0539-1680-CE96-EB0699D0B4AB}"/>
                </a:ext>
              </a:extLst>
            </p:cNvPr>
            <p:cNvGrpSpPr/>
            <p:nvPr/>
          </p:nvGrpSpPr>
          <p:grpSpPr>
            <a:xfrm>
              <a:off x="-8636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2" name="椭圆 1">
                <a:extLst>
                  <a:ext uri="{FF2B5EF4-FFF2-40B4-BE49-F238E27FC236}">
                    <a16:creationId xmlns:a16="http://schemas.microsoft.com/office/drawing/2014/main" id="{7EBD516D-B497-A26E-BA85-794EB74046FB}"/>
                  </a:ext>
                </a:extLst>
              </p:cNvPr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7A10B967-73AB-008A-A415-3D7AEB896F61}"/>
                  </a:ext>
                </a:extLst>
              </p:cNvPr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11C23B6E-9C20-7E91-A83C-6EA0476F03F7}"/>
                </a:ext>
              </a:extLst>
            </p:cNvPr>
            <p:cNvGrpSpPr/>
            <p:nvPr/>
          </p:nvGrpSpPr>
          <p:grpSpPr>
            <a:xfrm>
              <a:off x="123063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DD25F9E8-2C75-9B17-C1BB-40DADC6D8C76}"/>
                  </a:ext>
                </a:extLst>
              </p:cNvPr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7FBB17D6-E8BE-0653-8B19-5C86B2219BF4}"/>
                  </a:ext>
                </a:extLst>
              </p:cNvPr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</p:grp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E7452C53-8B7A-5855-D500-5FE568293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20" y="158710"/>
            <a:ext cx="5403916" cy="829815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832F042-11C8-793D-BB1C-E2A4FD3E7AFB}"/>
              </a:ext>
            </a:extLst>
          </p:cNvPr>
          <p:cNvSpPr/>
          <p:nvPr/>
        </p:nvSpPr>
        <p:spPr>
          <a:xfrm>
            <a:off x="1915885" y="1545772"/>
            <a:ext cx="8527143" cy="829815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设计模式是总结出来的、可以复用的“软件结构思路”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D32B995B-AC23-D3FC-F797-DC1A7C7FB58B}"/>
              </a:ext>
            </a:extLst>
          </p:cNvPr>
          <p:cNvSpPr/>
          <p:nvPr/>
        </p:nvSpPr>
        <p:spPr>
          <a:xfrm>
            <a:off x="134257" y="2757716"/>
            <a:ext cx="11923485" cy="1095827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你有一个温度采集系统，可以使用不同的传感器（如 </a:t>
            </a:r>
            <a:r>
              <a:rPr lang="en-US" altLang="zh-CN" sz="2400" dirty="0"/>
              <a:t>DS18B20</a:t>
            </a:r>
            <a:r>
              <a:rPr lang="zh-CN" altLang="en-US" sz="2400" dirty="0"/>
              <a:t>、</a:t>
            </a:r>
            <a:r>
              <a:rPr lang="en-US" altLang="zh-CN" sz="2400" dirty="0"/>
              <a:t>NTC</a:t>
            </a:r>
            <a:r>
              <a:rPr lang="zh-CN" altLang="en-US" sz="2400" dirty="0"/>
              <a:t>、</a:t>
            </a:r>
            <a:r>
              <a:rPr lang="en-US" altLang="zh-CN" sz="2400" dirty="0"/>
              <a:t>I2C</a:t>
            </a:r>
            <a:r>
              <a:rPr lang="zh-CN" altLang="en-US" sz="2400" dirty="0"/>
              <a:t>温度计）；</a:t>
            </a:r>
            <a:endParaRPr lang="en-US" altLang="zh-CN" sz="2400" dirty="0"/>
          </a:p>
          <a:p>
            <a:pPr algn="ctr"/>
            <a:r>
              <a:rPr lang="en-US" altLang="zh-CN" sz="2400" dirty="0"/>
              <a:t>ADC </a:t>
            </a:r>
            <a:r>
              <a:rPr lang="zh-CN" altLang="en-US" sz="2400" dirty="0"/>
              <a:t>、</a:t>
            </a:r>
            <a:r>
              <a:rPr lang="en-US" altLang="zh-CN" sz="2400" dirty="0"/>
              <a:t>DAC </a:t>
            </a:r>
            <a:r>
              <a:rPr lang="zh-CN" altLang="en-US" sz="2400" dirty="0"/>
              <a:t>、</a:t>
            </a:r>
            <a:r>
              <a:rPr lang="en-US" altLang="zh-CN" sz="2400" dirty="0"/>
              <a:t>LED</a:t>
            </a:r>
            <a:r>
              <a:rPr lang="zh-CN" altLang="en-US" sz="2400" dirty="0"/>
              <a:t>都可以</a:t>
            </a:r>
          </a:p>
        </p:txBody>
      </p:sp>
    </p:spTree>
    <p:extLst>
      <p:ext uri="{BB962C8B-B14F-4D97-AF65-F5344CB8AC3E}">
        <p14:creationId xmlns:p14="http://schemas.microsoft.com/office/powerpoint/2010/main" val="9740385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B6FAA-7D26-A9B7-D68A-1489A7353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AD6A7476-704D-3E7F-C02C-30D4D7081932}"/>
              </a:ext>
            </a:extLst>
          </p:cNvPr>
          <p:cNvGrpSpPr/>
          <p:nvPr/>
        </p:nvGrpSpPr>
        <p:grpSpPr>
          <a:xfrm>
            <a:off x="-698500" y="-582990"/>
            <a:ext cx="13589000" cy="8023980"/>
            <a:chOff x="-863600" y="-584200"/>
            <a:chExt cx="13335000" cy="7874000"/>
          </a:xfrm>
          <a:solidFill>
            <a:srgbClr val="E6E6E6"/>
          </a:solidFill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8080EF8B-FB02-B626-6BA3-02F3D89CB284}"/>
                </a:ext>
              </a:extLst>
            </p:cNvPr>
            <p:cNvGrpSpPr/>
            <p:nvPr/>
          </p:nvGrpSpPr>
          <p:grpSpPr>
            <a:xfrm>
              <a:off x="-8636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2" name="椭圆 1">
                <a:extLst>
                  <a:ext uri="{FF2B5EF4-FFF2-40B4-BE49-F238E27FC236}">
                    <a16:creationId xmlns:a16="http://schemas.microsoft.com/office/drawing/2014/main" id="{4B59CE42-99B6-913B-A577-FA2D166E8E93}"/>
                  </a:ext>
                </a:extLst>
              </p:cNvPr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EAE7999B-DF7B-6E3C-E937-297C768994EA}"/>
                  </a:ext>
                </a:extLst>
              </p:cNvPr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B2C4E531-BDDC-E84D-50A8-FD07B840D04B}"/>
                </a:ext>
              </a:extLst>
            </p:cNvPr>
            <p:cNvGrpSpPr/>
            <p:nvPr/>
          </p:nvGrpSpPr>
          <p:grpSpPr>
            <a:xfrm>
              <a:off x="123063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ED448061-516D-A1D1-6517-4DBAB0B81323}"/>
                  </a:ext>
                </a:extLst>
              </p:cNvPr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981C6797-3489-6D0D-2E2B-D78773D74A22}"/>
                  </a:ext>
                </a:extLst>
              </p:cNvPr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</p:grp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53C7C34C-3954-3AB1-A7B9-4DE14CD6B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20" y="158710"/>
            <a:ext cx="5403916" cy="829815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4D85E736-6D45-34CE-CA33-79DEC1C8131D}"/>
              </a:ext>
            </a:extLst>
          </p:cNvPr>
          <p:cNvSpPr/>
          <p:nvPr/>
        </p:nvSpPr>
        <p:spPr>
          <a:xfrm>
            <a:off x="7393560" y="2561772"/>
            <a:ext cx="4666343" cy="205377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设计模式是经验的抽象，是让软件更容易改、更容易扩、更容易理解的结构套路。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CFDBA06F-EFF3-C4D4-B3D0-930F8525B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83" y="1697297"/>
            <a:ext cx="7066814" cy="4210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4932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8FD02-AEBD-95FC-4E89-8815E4450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8AB758D2-5A2C-1968-8690-6683D392CFEA}"/>
              </a:ext>
            </a:extLst>
          </p:cNvPr>
          <p:cNvGrpSpPr/>
          <p:nvPr/>
        </p:nvGrpSpPr>
        <p:grpSpPr>
          <a:xfrm>
            <a:off x="-698500" y="-582990"/>
            <a:ext cx="13589000" cy="8023980"/>
            <a:chOff x="-863600" y="-584200"/>
            <a:chExt cx="13335000" cy="7874000"/>
          </a:xfrm>
          <a:solidFill>
            <a:srgbClr val="E6E6E6"/>
          </a:solidFill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AE88F2D5-F804-CFAC-6ADA-C528F5534C29}"/>
                </a:ext>
              </a:extLst>
            </p:cNvPr>
            <p:cNvGrpSpPr/>
            <p:nvPr/>
          </p:nvGrpSpPr>
          <p:grpSpPr>
            <a:xfrm>
              <a:off x="-8636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2" name="椭圆 1">
                <a:extLst>
                  <a:ext uri="{FF2B5EF4-FFF2-40B4-BE49-F238E27FC236}">
                    <a16:creationId xmlns:a16="http://schemas.microsoft.com/office/drawing/2014/main" id="{564342CB-2616-5FF7-BA3C-F539A2D0D7D3}"/>
                  </a:ext>
                </a:extLst>
              </p:cNvPr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60599D9A-CCF4-557F-B1E9-263B0EF9C185}"/>
                  </a:ext>
                </a:extLst>
              </p:cNvPr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14683582-3C16-37AB-B04B-9FA4220A43BD}"/>
                </a:ext>
              </a:extLst>
            </p:cNvPr>
            <p:cNvGrpSpPr/>
            <p:nvPr/>
          </p:nvGrpSpPr>
          <p:grpSpPr>
            <a:xfrm>
              <a:off x="123063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94034BCC-8B2C-9436-9CE3-547C2C85D361}"/>
                  </a:ext>
                </a:extLst>
              </p:cNvPr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B82B7595-3543-F2D3-8034-29A059C9A3E6}"/>
                  </a:ext>
                </a:extLst>
              </p:cNvPr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</p:grp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B5CF6CA7-E6F0-FFE0-7ED6-8C33F9995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020" y="158710"/>
            <a:ext cx="5403916" cy="82981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18384D1-63DC-ED05-8343-C2AC0D39F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020" y="1052275"/>
            <a:ext cx="9079217" cy="55309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0A8157D8-0CF5-5746-BA4F-651433B3EB25}"/>
              </a:ext>
            </a:extLst>
          </p:cNvPr>
          <p:cNvSpPr/>
          <p:nvPr/>
        </p:nvSpPr>
        <p:spPr>
          <a:xfrm>
            <a:off x="9237344" y="1225621"/>
            <a:ext cx="29546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策略模式</a:t>
            </a:r>
          </a:p>
        </p:txBody>
      </p:sp>
    </p:spTree>
    <p:extLst>
      <p:ext uri="{BB962C8B-B14F-4D97-AF65-F5344CB8AC3E}">
        <p14:creationId xmlns:p14="http://schemas.microsoft.com/office/powerpoint/2010/main" val="24740627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B0FD9-93E3-B07B-155A-6E3D42C60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06707B5-708D-A6F3-B164-E49527FFFA38}"/>
              </a:ext>
            </a:extLst>
          </p:cNvPr>
          <p:cNvGrpSpPr/>
          <p:nvPr/>
        </p:nvGrpSpPr>
        <p:grpSpPr>
          <a:xfrm>
            <a:off x="-698500" y="-582990"/>
            <a:ext cx="13589000" cy="8023980"/>
            <a:chOff x="-863600" y="-584200"/>
            <a:chExt cx="13335000" cy="7874000"/>
          </a:xfrm>
          <a:solidFill>
            <a:srgbClr val="E6E6E6"/>
          </a:solidFill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7C173511-B8D9-CD62-F24F-E5ADB6D8F163}"/>
                </a:ext>
              </a:extLst>
            </p:cNvPr>
            <p:cNvGrpSpPr/>
            <p:nvPr/>
          </p:nvGrpSpPr>
          <p:grpSpPr>
            <a:xfrm>
              <a:off x="-8636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2" name="椭圆 1">
                <a:extLst>
                  <a:ext uri="{FF2B5EF4-FFF2-40B4-BE49-F238E27FC236}">
                    <a16:creationId xmlns:a16="http://schemas.microsoft.com/office/drawing/2014/main" id="{F011C430-2760-FB4E-DA79-3A3C243521CC}"/>
                  </a:ext>
                </a:extLst>
              </p:cNvPr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E8CEA807-3FAF-F8C6-E2BA-6C36B0BE0A95}"/>
                  </a:ext>
                </a:extLst>
              </p:cNvPr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A3B27158-4E09-4AFF-8E2B-53759601C2B3}"/>
                </a:ext>
              </a:extLst>
            </p:cNvPr>
            <p:cNvGrpSpPr/>
            <p:nvPr/>
          </p:nvGrpSpPr>
          <p:grpSpPr>
            <a:xfrm>
              <a:off x="123063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8780A041-46C9-F042-FE5E-196F8C029B0F}"/>
                  </a:ext>
                </a:extLst>
              </p:cNvPr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7F8A5E5C-4ECE-B550-0FEF-5C559941C889}"/>
                  </a:ext>
                </a:extLst>
              </p:cNvPr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</p:grpSp>
      </p:grpSp>
      <p:pic>
        <p:nvPicPr>
          <p:cNvPr id="15" name="图片 14">
            <a:extLst>
              <a:ext uri="{FF2B5EF4-FFF2-40B4-BE49-F238E27FC236}">
                <a16:creationId xmlns:a16="http://schemas.microsoft.com/office/drawing/2014/main" id="{17BD88BB-B42E-E3F7-5B93-B75EDFC33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69" y="298867"/>
            <a:ext cx="8256545" cy="948795"/>
          </a:xfrm>
          <a:prstGeom prst="rect">
            <a:avLst/>
          </a:prstGeom>
        </p:spPr>
      </p:pic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2B221EC-7FB9-5BC5-E1EA-A26931C9025B}"/>
              </a:ext>
            </a:extLst>
          </p:cNvPr>
          <p:cNvSpPr/>
          <p:nvPr/>
        </p:nvSpPr>
        <p:spPr>
          <a:xfrm>
            <a:off x="1124857" y="1502229"/>
            <a:ext cx="5319486" cy="7039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模型</a:t>
            </a:r>
            <a:r>
              <a:rPr lang="en-US" altLang="zh-CN" sz="2800" dirty="0"/>
              <a:t>–</a:t>
            </a:r>
            <a:r>
              <a:rPr lang="zh-CN" altLang="en-US" sz="2800" dirty="0"/>
              <a:t>视图</a:t>
            </a:r>
            <a:r>
              <a:rPr lang="en-US" altLang="zh-CN" sz="2800" dirty="0"/>
              <a:t>–</a:t>
            </a:r>
            <a:r>
              <a:rPr lang="zh-CN" altLang="en-US" sz="2800" dirty="0"/>
              <a:t>控制器模式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D8E89E42-E4D8-C5B0-D93D-304A0CDED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827" y="2684912"/>
            <a:ext cx="10901263" cy="254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8810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372BB-075C-4C28-63FD-F51F34E52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CC979897-943D-DD2F-3AE7-4DD2C0D4CF68}"/>
              </a:ext>
            </a:extLst>
          </p:cNvPr>
          <p:cNvGrpSpPr/>
          <p:nvPr/>
        </p:nvGrpSpPr>
        <p:grpSpPr>
          <a:xfrm>
            <a:off x="-698500" y="-582990"/>
            <a:ext cx="13589000" cy="8023980"/>
            <a:chOff x="-863600" y="-584200"/>
            <a:chExt cx="13335000" cy="7874000"/>
          </a:xfrm>
          <a:solidFill>
            <a:srgbClr val="E6E6E6"/>
          </a:solidFill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FF623886-C775-9587-0E18-0D6F9F1DF96F}"/>
                </a:ext>
              </a:extLst>
            </p:cNvPr>
            <p:cNvGrpSpPr/>
            <p:nvPr/>
          </p:nvGrpSpPr>
          <p:grpSpPr>
            <a:xfrm>
              <a:off x="-8636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2" name="椭圆 1">
                <a:extLst>
                  <a:ext uri="{FF2B5EF4-FFF2-40B4-BE49-F238E27FC236}">
                    <a16:creationId xmlns:a16="http://schemas.microsoft.com/office/drawing/2014/main" id="{9F0E3198-8FCB-873E-336D-3711973C8326}"/>
                  </a:ext>
                </a:extLst>
              </p:cNvPr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716648DB-BE14-EC15-0EFB-0A3699439169}"/>
                  </a:ext>
                </a:extLst>
              </p:cNvPr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C56034B3-4C3E-5092-15F3-EC1181952645}"/>
                </a:ext>
              </a:extLst>
            </p:cNvPr>
            <p:cNvGrpSpPr/>
            <p:nvPr/>
          </p:nvGrpSpPr>
          <p:grpSpPr>
            <a:xfrm>
              <a:off x="123063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CAC030CC-D450-FD3D-2AA6-F2A2D15CE225}"/>
                  </a:ext>
                </a:extLst>
              </p:cNvPr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5463B6B1-A15C-BCD1-21B3-40EB8BE93396}"/>
                  </a:ext>
                </a:extLst>
              </p:cNvPr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</p:grpSp>
      </p:grpSp>
      <p:pic>
        <p:nvPicPr>
          <p:cNvPr id="15" name="图片 14">
            <a:extLst>
              <a:ext uri="{FF2B5EF4-FFF2-40B4-BE49-F238E27FC236}">
                <a16:creationId xmlns:a16="http://schemas.microsoft.com/office/drawing/2014/main" id="{A6C9D830-DC94-C48C-1039-ACEF0571E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69" y="298867"/>
            <a:ext cx="8256545" cy="94879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F46AB4D-E97A-EF7C-A7DE-BD478F1146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143" y="1605842"/>
            <a:ext cx="7472787" cy="475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8427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7FA2C-7318-B303-D329-ECBB31459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001A818-882B-374B-4A90-8FD0A294968B}"/>
              </a:ext>
            </a:extLst>
          </p:cNvPr>
          <p:cNvGrpSpPr/>
          <p:nvPr/>
        </p:nvGrpSpPr>
        <p:grpSpPr>
          <a:xfrm>
            <a:off x="-698500" y="-582990"/>
            <a:ext cx="13589000" cy="8023980"/>
            <a:chOff x="-863600" y="-584200"/>
            <a:chExt cx="13335000" cy="7874000"/>
          </a:xfrm>
          <a:solidFill>
            <a:srgbClr val="E6E6E6"/>
          </a:solidFill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9946CC38-357A-F20F-4CED-697547E067EC}"/>
                </a:ext>
              </a:extLst>
            </p:cNvPr>
            <p:cNvGrpSpPr/>
            <p:nvPr/>
          </p:nvGrpSpPr>
          <p:grpSpPr>
            <a:xfrm>
              <a:off x="-8636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2" name="椭圆 1">
                <a:extLst>
                  <a:ext uri="{FF2B5EF4-FFF2-40B4-BE49-F238E27FC236}">
                    <a16:creationId xmlns:a16="http://schemas.microsoft.com/office/drawing/2014/main" id="{9CC79970-F8AB-0694-1435-C40CE3FA4F9B}"/>
                  </a:ext>
                </a:extLst>
              </p:cNvPr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CA308C3C-8838-A021-CE01-507249B7AA4D}"/>
                  </a:ext>
                </a:extLst>
              </p:cNvPr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3EB9A4EE-3755-6941-1C54-D56DB8C94847}"/>
                </a:ext>
              </a:extLst>
            </p:cNvPr>
            <p:cNvGrpSpPr/>
            <p:nvPr/>
          </p:nvGrpSpPr>
          <p:grpSpPr>
            <a:xfrm>
              <a:off x="123063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7494EE54-C2F6-70D8-D6B2-64EBFFBDDDCA}"/>
                  </a:ext>
                </a:extLst>
              </p:cNvPr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9987FBF5-22FC-A262-FAED-5096579BAA59}"/>
                  </a:ext>
                </a:extLst>
              </p:cNvPr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</p:grpSp>
      </p:grpSp>
      <p:pic>
        <p:nvPicPr>
          <p:cNvPr id="15" name="图片 14">
            <a:extLst>
              <a:ext uri="{FF2B5EF4-FFF2-40B4-BE49-F238E27FC236}">
                <a16:creationId xmlns:a16="http://schemas.microsoft.com/office/drawing/2014/main" id="{8DE308E6-FDC3-6F57-8AEE-12A3B5600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69" y="298867"/>
            <a:ext cx="8256545" cy="94879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1CFCD99-3A11-865B-DDB2-6342751C5D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969" y="1598516"/>
            <a:ext cx="7882449" cy="4960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3377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50DF8-1406-EC2E-E5AB-03E26658A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01E0DB84-F080-D289-693B-1A6C28E16C14}"/>
              </a:ext>
            </a:extLst>
          </p:cNvPr>
          <p:cNvGrpSpPr/>
          <p:nvPr/>
        </p:nvGrpSpPr>
        <p:grpSpPr>
          <a:xfrm>
            <a:off x="-698500" y="-582990"/>
            <a:ext cx="13589000" cy="8023980"/>
            <a:chOff x="-863600" y="-584200"/>
            <a:chExt cx="13335000" cy="7874000"/>
          </a:xfrm>
          <a:solidFill>
            <a:srgbClr val="E6E6E6"/>
          </a:solidFill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A7779C2C-9F0E-5376-A6E4-B054246E5FF4}"/>
                </a:ext>
              </a:extLst>
            </p:cNvPr>
            <p:cNvGrpSpPr/>
            <p:nvPr/>
          </p:nvGrpSpPr>
          <p:grpSpPr>
            <a:xfrm>
              <a:off x="-8636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2" name="椭圆 1">
                <a:extLst>
                  <a:ext uri="{FF2B5EF4-FFF2-40B4-BE49-F238E27FC236}">
                    <a16:creationId xmlns:a16="http://schemas.microsoft.com/office/drawing/2014/main" id="{6EC2A007-DF9E-B009-045E-647106523B41}"/>
                  </a:ext>
                </a:extLst>
              </p:cNvPr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F6D5726C-760C-4B7B-8AD9-9B3793FA9AC9}"/>
                  </a:ext>
                </a:extLst>
              </p:cNvPr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F10AC321-69EF-1AE7-6DCD-89FC8A1BD110}"/>
                </a:ext>
              </a:extLst>
            </p:cNvPr>
            <p:cNvGrpSpPr/>
            <p:nvPr/>
          </p:nvGrpSpPr>
          <p:grpSpPr>
            <a:xfrm>
              <a:off x="123063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9AFC1101-8119-D31E-C52B-197339EBB9F7}"/>
                  </a:ext>
                </a:extLst>
              </p:cNvPr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8872BEC5-31AE-EA07-7B9D-CAE35B8BA00C}"/>
                  </a:ext>
                </a:extLst>
              </p:cNvPr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</p:grpSp>
      </p:grpSp>
      <p:pic>
        <p:nvPicPr>
          <p:cNvPr id="15" name="图片 14">
            <a:extLst>
              <a:ext uri="{FF2B5EF4-FFF2-40B4-BE49-F238E27FC236}">
                <a16:creationId xmlns:a16="http://schemas.microsoft.com/office/drawing/2014/main" id="{E973BF9E-07D2-97B3-8497-A0BCD622D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69" y="298867"/>
            <a:ext cx="8256545" cy="94879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37FD8A2-5442-E936-9EC5-7E4DE33AA7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969" y="1501456"/>
            <a:ext cx="7161236" cy="489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2564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966F3-9DC8-6C3D-1966-F0B5027DB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25B9F74B-31D9-972C-60BA-5284B5D290EB}"/>
              </a:ext>
            </a:extLst>
          </p:cNvPr>
          <p:cNvGrpSpPr/>
          <p:nvPr/>
        </p:nvGrpSpPr>
        <p:grpSpPr>
          <a:xfrm>
            <a:off x="-698500" y="-582990"/>
            <a:ext cx="13589000" cy="8023980"/>
            <a:chOff x="-863600" y="-584200"/>
            <a:chExt cx="13335000" cy="7874000"/>
          </a:xfrm>
          <a:solidFill>
            <a:srgbClr val="E6E6E6"/>
          </a:solidFill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12F37A3C-4C10-4F50-139B-728BAEAE3220}"/>
                </a:ext>
              </a:extLst>
            </p:cNvPr>
            <p:cNvGrpSpPr/>
            <p:nvPr/>
          </p:nvGrpSpPr>
          <p:grpSpPr>
            <a:xfrm>
              <a:off x="-8636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2" name="椭圆 1">
                <a:extLst>
                  <a:ext uri="{FF2B5EF4-FFF2-40B4-BE49-F238E27FC236}">
                    <a16:creationId xmlns:a16="http://schemas.microsoft.com/office/drawing/2014/main" id="{C75FF360-9B42-DB7D-AFAE-289BCDCDEE4E}"/>
                  </a:ext>
                </a:extLst>
              </p:cNvPr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0E33D6CE-F53F-D6DD-0E6B-DC923B5D7694}"/>
                  </a:ext>
                </a:extLst>
              </p:cNvPr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CFB433D4-604A-135E-E40E-C70C2FA75D46}"/>
                </a:ext>
              </a:extLst>
            </p:cNvPr>
            <p:cNvGrpSpPr/>
            <p:nvPr/>
          </p:nvGrpSpPr>
          <p:grpSpPr>
            <a:xfrm>
              <a:off x="123063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F130D903-E7A0-0418-FB56-6931EFF81794}"/>
                  </a:ext>
                </a:extLst>
              </p:cNvPr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CFB388C5-D7A5-4AED-7492-549BEF5E3DED}"/>
                  </a:ext>
                </a:extLst>
              </p:cNvPr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</p:grpSp>
      </p:grpSp>
      <p:pic>
        <p:nvPicPr>
          <p:cNvPr id="15" name="图片 14">
            <a:extLst>
              <a:ext uri="{FF2B5EF4-FFF2-40B4-BE49-F238E27FC236}">
                <a16:creationId xmlns:a16="http://schemas.microsoft.com/office/drawing/2014/main" id="{5917858C-3E9F-C449-5E22-066AED5E9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69" y="298867"/>
            <a:ext cx="8256545" cy="94879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092E6F4-33E1-22DE-A365-F5DEB37869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972" y="1414826"/>
            <a:ext cx="9383152" cy="494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0659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B1826-4F29-1509-9936-88B9699A1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14CF62FC-10E8-7829-49EA-322E6B64716A}"/>
              </a:ext>
            </a:extLst>
          </p:cNvPr>
          <p:cNvGrpSpPr/>
          <p:nvPr/>
        </p:nvGrpSpPr>
        <p:grpSpPr>
          <a:xfrm>
            <a:off x="-698500" y="-582990"/>
            <a:ext cx="13589000" cy="8023980"/>
            <a:chOff x="-863600" y="-584200"/>
            <a:chExt cx="13335000" cy="7874000"/>
          </a:xfrm>
          <a:solidFill>
            <a:srgbClr val="E6E6E6"/>
          </a:solidFill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466E2198-033F-C004-B8E2-675D00701650}"/>
                </a:ext>
              </a:extLst>
            </p:cNvPr>
            <p:cNvGrpSpPr/>
            <p:nvPr/>
          </p:nvGrpSpPr>
          <p:grpSpPr>
            <a:xfrm>
              <a:off x="-8636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2" name="椭圆 1">
                <a:extLst>
                  <a:ext uri="{FF2B5EF4-FFF2-40B4-BE49-F238E27FC236}">
                    <a16:creationId xmlns:a16="http://schemas.microsoft.com/office/drawing/2014/main" id="{B701531A-C285-8C55-38F4-4BF7BEA1FBAD}"/>
                  </a:ext>
                </a:extLst>
              </p:cNvPr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126AD95B-B6B3-2EFD-F563-50425634FBB1}"/>
                  </a:ext>
                </a:extLst>
              </p:cNvPr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1E902470-38D3-E87E-4CEC-E8F5D7F4BEFC}"/>
                </a:ext>
              </a:extLst>
            </p:cNvPr>
            <p:cNvGrpSpPr/>
            <p:nvPr/>
          </p:nvGrpSpPr>
          <p:grpSpPr>
            <a:xfrm>
              <a:off x="123063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C1703FC6-19B3-4DBB-5F55-1B65BC279EE7}"/>
                  </a:ext>
                </a:extLst>
              </p:cNvPr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D47C0C9A-EA4B-8EC0-B028-C34F138CCD36}"/>
                  </a:ext>
                </a:extLst>
              </p:cNvPr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</p:grp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8560AA6D-A22C-9CBE-D966-291BA40B1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909" y="224971"/>
            <a:ext cx="3619497" cy="7620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305CF2D-D68C-4FFD-3FF0-71B222F41C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864" y="1342572"/>
            <a:ext cx="7181084" cy="149236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E26537B-B75E-6512-7DA9-E0D1E5DBA8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863" y="3075319"/>
            <a:ext cx="10292745" cy="299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229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9D87A-1AE8-F156-DC26-1B3CD5887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DA1BFD7-FC4C-4B9B-9653-5AB7A04198F0}"/>
              </a:ext>
            </a:extLst>
          </p:cNvPr>
          <p:cNvGrpSpPr/>
          <p:nvPr/>
        </p:nvGrpSpPr>
        <p:grpSpPr>
          <a:xfrm>
            <a:off x="-698500" y="-582990"/>
            <a:ext cx="13589000" cy="8023980"/>
            <a:chOff x="-863600" y="-584200"/>
            <a:chExt cx="13335000" cy="7874000"/>
          </a:xfrm>
          <a:solidFill>
            <a:srgbClr val="E6E6E6"/>
          </a:solidFill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19BB4CBC-66DE-5E48-9D00-56BC26EF5272}"/>
                </a:ext>
              </a:extLst>
            </p:cNvPr>
            <p:cNvGrpSpPr/>
            <p:nvPr/>
          </p:nvGrpSpPr>
          <p:grpSpPr>
            <a:xfrm>
              <a:off x="-8636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2" name="椭圆 1">
                <a:extLst>
                  <a:ext uri="{FF2B5EF4-FFF2-40B4-BE49-F238E27FC236}">
                    <a16:creationId xmlns:a16="http://schemas.microsoft.com/office/drawing/2014/main" id="{8C63F011-492B-50B8-AE0F-AD11685BCE69}"/>
                  </a:ext>
                </a:extLst>
              </p:cNvPr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B4A91F38-32F8-E6A9-95E0-B45A07358C00}"/>
                  </a:ext>
                </a:extLst>
              </p:cNvPr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B791BFA5-A355-CFB9-E8EC-9A57BF1EA0D8}"/>
                </a:ext>
              </a:extLst>
            </p:cNvPr>
            <p:cNvGrpSpPr/>
            <p:nvPr/>
          </p:nvGrpSpPr>
          <p:grpSpPr>
            <a:xfrm>
              <a:off x="123063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30551331-FDE9-FD44-167F-893CD9A6EF5F}"/>
                  </a:ext>
                </a:extLst>
              </p:cNvPr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4869388D-470E-BCF2-1A6D-2DFF09862E84}"/>
                  </a:ext>
                </a:extLst>
              </p:cNvPr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</p:grp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3CC5B1A1-63EB-4F2B-A7BF-9FE11F124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909" y="224971"/>
            <a:ext cx="3619497" cy="762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0D2369E-0DB6-89B2-74EF-A8D5CABD5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09" y="1553029"/>
            <a:ext cx="7101082" cy="90827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E8C03FE-C84F-0272-1A26-A623D3D50C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909" y="2639100"/>
            <a:ext cx="9356906" cy="315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5171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A661D-DAED-08C2-190F-766DA63E8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86365AF-2503-EF3A-C2DE-9B9DE38E437A}"/>
              </a:ext>
            </a:extLst>
          </p:cNvPr>
          <p:cNvGrpSpPr/>
          <p:nvPr/>
        </p:nvGrpSpPr>
        <p:grpSpPr>
          <a:xfrm>
            <a:off x="-698500" y="-582990"/>
            <a:ext cx="13589000" cy="8023980"/>
            <a:chOff x="-863600" y="-584200"/>
            <a:chExt cx="13335000" cy="7874000"/>
          </a:xfrm>
          <a:solidFill>
            <a:srgbClr val="E6E6E6"/>
          </a:solidFill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53EDE18A-5B47-66CF-96DE-0E4A1C7D196F}"/>
                </a:ext>
              </a:extLst>
            </p:cNvPr>
            <p:cNvGrpSpPr/>
            <p:nvPr/>
          </p:nvGrpSpPr>
          <p:grpSpPr>
            <a:xfrm>
              <a:off x="-8636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2" name="椭圆 1">
                <a:extLst>
                  <a:ext uri="{FF2B5EF4-FFF2-40B4-BE49-F238E27FC236}">
                    <a16:creationId xmlns:a16="http://schemas.microsoft.com/office/drawing/2014/main" id="{97D59001-414B-EA94-DB06-AE092D6B24C1}"/>
                  </a:ext>
                </a:extLst>
              </p:cNvPr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77DC0DA6-0282-F92A-2659-872FFEE0553D}"/>
                  </a:ext>
                </a:extLst>
              </p:cNvPr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D0EE252E-878C-D7F6-4FC8-A5D70004EF1C}"/>
                </a:ext>
              </a:extLst>
            </p:cNvPr>
            <p:cNvGrpSpPr/>
            <p:nvPr/>
          </p:nvGrpSpPr>
          <p:grpSpPr>
            <a:xfrm>
              <a:off x="123063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E205AA5C-D4BB-ABA2-1422-7D60D0219042}"/>
                  </a:ext>
                </a:extLst>
              </p:cNvPr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99188E1C-1C65-3FA0-8BDF-E58ABC638C9E}"/>
                  </a:ext>
                </a:extLst>
              </p:cNvPr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</p:grp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2F49590C-F124-8023-8A4D-E6D618C2D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909" y="224971"/>
            <a:ext cx="3619497" cy="762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09277CB-3D78-BF2F-CB60-086EF87767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09" y="1256157"/>
            <a:ext cx="7656468" cy="5376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3774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DBA12-5730-9A57-8B8F-BEAFCED74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2748741-052F-B2FD-B469-8B471AE7769D}"/>
              </a:ext>
            </a:extLst>
          </p:cNvPr>
          <p:cNvGrpSpPr/>
          <p:nvPr/>
        </p:nvGrpSpPr>
        <p:grpSpPr>
          <a:xfrm>
            <a:off x="-698500" y="-582990"/>
            <a:ext cx="13589000" cy="8023980"/>
            <a:chOff x="-863600" y="-584200"/>
            <a:chExt cx="13335000" cy="7874000"/>
          </a:xfrm>
          <a:solidFill>
            <a:srgbClr val="E6E6E6"/>
          </a:solidFill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ACF9153C-DAFB-BCA7-3725-F313B21692FB}"/>
                </a:ext>
              </a:extLst>
            </p:cNvPr>
            <p:cNvGrpSpPr/>
            <p:nvPr/>
          </p:nvGrpSpPr>
          <p:grpSpPr>
            <a:xfrm>
              <a:off x="-8636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2" name="椭圆 1">
                <a:extLst>
                  <a:ext uri="{FF2B5EF4-FFF2-40B4-BE49-F238E27FC236}">
                    <a16:creationId xmlns:a16="http://schemas.microsoft.com/office/drawing/2014/main" id="{3949129F-883C-B4D5-0805-680EF1BC60EF}"/>
                  </a:ext>
                </a:extLst>
              </p:cNvPr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2FE168E8-4C40-4CF3-3ECD-B0773E664D45}"/>
                  </a:ext>
                </a:extLst>
              </p:cNvPr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763A83A7-BD22-4545-BFAD-1732C7A685AE}"/>
                </a:ext>
              </a:extLst>
            </p:cNvPr>
            <p:cNvGrpSpPr/>
            <p:nvPr/>
          </p:nvGrpSpPr>
          <p:grpSpPr>
            <a:xfrm>
              <a:off x="123063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96281E79-FAAA-796F-D411-F3A4FB7732F3}"/>
                  </a:ext>
                </a:extLst>
              </p:cNvPr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5613824E-F12E-8080-006E-B18EEC7DBD0E}"/>
                  </a:ext>
                </a:extLst>
              </p:cNvPr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</p:grp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BAC9745F-88C4-AC36-C642-6EF0747A9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909" y="224971"/>
            <a:ext cx="3619497" cy="762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D87924F-C163-730B-5F63-04D88768E7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829" y="1330186"/>
            <a:ext cx="7689907" cy="524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0341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FE002-D661-1D92-D11D-00676A604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1D2949D-5485-24AC-7243-D5ED9BEE8F4E}"/>
              </a:ext>
            </a:extLst>
          </p:cNvPr>
          <p:cNvGrpSpPr/>
          <p:nvPr/>
        </p:nvGrpSpPr>
        <p:grpSpPr>
          <a:xfrm>
            <a:off x="-698500" y="-582990"/>
            <a:ext cx="13589000" cy="8023980"/>
            <a:chOff x="-863600" y="-584200"/>
            <a:chExt cx="13335000" cy="7874000"/>
          </a:xfrm>
          <a:solidFill>
            <a:srgbClr val="E6E6E6"/>
          </a:solidFill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4348168B-D038-9BBD-6741-F6756D1A21FF}"/>
                </a:ext>
              </a:extLst>
            </p:cNvPr>
            <p:cNvGrpSpPr/>
            <p:nvPr/>
          </p:nvGrpSpPr>
          <p:grpSpPr>
            <a:xfrm>
              <a:off x="-8636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2" name="椭圆 1">
                <a:extLst>
                  <a:ext uri="{FF2B5EF4-FFF2-40B4-BE49-F238E27FC236}">
                    <a16:creationId xmlns:a16="http://schemas.microsoft.com/office/drawing/2014/main" id="{694D33F3-03B4-C01D-A421-7E1B95D838D6}"/>
                  </a:ext>
                </a:extLst>
              </p:cNvPr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6B038D60-0346-9B72-5786-E61A9FA36A42}"/>
                  </a:ext>
                </a:extLst>
              </p:cNvPr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836C22C8-54E4-A4B5-2D81-98464A307951}"/>
                </a:ext>
              </a:extLst>
            </p:cNvPr>
            <p:cNvGrpSpPr/>
            <p:nvPr/>
          </p:nvGrpSpPr>
          <p:grpSpPr>
            <a:xfrm>
              <a:off x="123063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FC6AC4DA-A185-BD00-F104-579C6CB9F8FB}"/>
                  </a:ext>
                </a:extLst>
              </p:cNvPr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A80A9046-D8E8-73E4-D4AD-9794507BA110}"/>
                  </a:ext>
                </a:extLst>
              </p:cNvPr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</p:grp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DE79B36B-31A1-81CC-C17F-1134D48F9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909" y="224971"/>
            <a:ext cx="3619497" cy="762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C6F47C0-8E09-D716-A898-BB2E7ACF6A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67" y="1046298"/>
            <a:ext cx="5326807" cy="566655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C5B864B-0950-4B5B-A4AF-8F1097226E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3428" y="605971"/>
            <a:ext cx="5744284" cy="592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0553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5E383-FF9B-DDBC-DE0A-7F1634A36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650F8E88-1832-95E7-AB59-D249AEAFA72F}"/>
              </a:ext>
            </a:extLst>
          </p:cNvPr>
          <p:cNvGrpSpPr/>
          <p:nvPr/>
        </p:nvGrpSpPr>
        <p:grpSpPr>
          <a:xfrm>
            <a:off x="-698500" y="-582990"/>
            <a:ext cx="13589000" cy="8023980"/>
            <a:chOff x="-863600" y="-584200"/>
            <a:chExt cx="13335000" cy="7874000"/>
          </a:xfrm>
          <a:solidFill>
            <a:srgbClr val="E6E6E6"/>
          </a:solidFill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3EF4676D-3867-49C1-E1E4-428EEB125E9B}"/>
                </a:ext>
              </a:extLst>
            </p:cNvPr>
            <p:cNvGrpSpPr/>
            <p:nvPr/>
          </p:nvGrpSpPr>
          <p:grpSpPr>
            <a:xfrm>
              <a:off x="-8636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2" name="椭圆 1">
                <a:extLst>
                  <a:ext uri="{FF2B5EF4-FFF2-40B4-BE49-F238E27FC236}">
                    <a16:creationId xmlns:a16="http://schemas.microsoft.com/office/drawing/2014/main" id="{CA638974-AE8B-26C6-2761-A10AD0D5964A}"/>
                  </a:ext>
                </a:extLst>
              </p:cNvPr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4C0DD7B5-F66F-096A-3E55-46467C1ADD62}"/>
                  </a:ext>
                </a:extLst>
              </p:cNvPr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EB9EE155-D4E6-6EE1-9534-D9ED5EAD983B}"/>
                </a:ext>
              </a:extLst>
            </p:cNvPr>
            <p:cNvGrpSpPr/>
            <p:nvPr/>
          </p:nvGrpSpPr>
          <p:grpSpPr>
            <a:xfrm>
              <a:off x="12306300" y="-584200"/>
              <a:ext cx="165100" cy="7874000"/>
              <a:chOff x="-863600" y="-584200"/>
              <a:chExt cx="165100" cy="7874000"/>
            </a:xfrm>
            <a:grpFill/>
          </p:grpSpPr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3CFB4DCC-2E82-E5D4-8625-0A8DB4988654}"/>
                  </a:ext>
                </a:extLst>
              </p:cNvPr>
              <p:cNvSpPr/>
              <p:nvPr/>
            </p:nvSpPr>
            <p:spPr>
              <a:xfrm>
                <a:off x="-863600" y="-5842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F18170AF-A034-42D1-D4B5-7D9D729056DC}"/>
                  </a:ext>
                </a:extLst>
              </p:cNvPr>
              <p:cNvSpPr/>
              <p:nvPr/>
            </p:nvSpPr>
            <p:spPr>
              <a:xfrm>
                <a:off x="-863600" y="7124700"/>
                <a:ext cx="165100" cy="165100"/>
              </a:xfrm>
              <a:prstGeom prst="ellipse">
                <a:avLst/>
              </a:prstGeom>
              <a:grp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钉钉进步体" panose="00020600040101010101" pitchFamily="18" charset="-122"/>
                  <a:ea typeface="钉钉进步体" panose="00020600040101010101" pitchFamily="18" charset="-122"/>
                </a:endParaRPr>
              </a:p>
            </p:txBody>
          </p:sp>
        </p:grp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F63A19D0-1E07-5684-B093-B016AD377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909" y="224971"/>
            <a:ext cx="3619497" cy="762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5734747-61F0-E937-4B7D-37D8F3BC6C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860" y="1978080"/>
            <a:ext cx="11300652" cy="290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549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zhuzhuPPT">
      <a:dk1>
        <a:srgbClr val="FF9A00"/>
      </a:dk1>
      <a:lt1>
        <a:srgbClr val="EEEEEE"/>
      </a:lt1>
      <a:dk2>
        <a:srgbClr val="8C82FC"/>
      </a:dk2>
      <a:lt2>
        <a:srgbClr val="62D2A2"/>
      </a:lt2>
      <a:accent1>
        <a:srgbClr val="FF6F3C"/>
      </a:accent1>
      <a:accent2>
        <a:srgbClr val="3EC1D3"/>
      </a:accent2>
      <a:accent3>
        <a:srgbClr val="FF165D"/>
      </a:accent3>
      <a:accent4>
        <a:srgbClr val="F6F7D7"/>
      </a:accent4>
      <a:accent5>
        <a:srgbClr val="62D2A2"/>
      </a:accent5>
      <a:accent6>
        <a:srgbClr val="8C82FC"/>
      </a:accent6>
      <a:hlink>
        <a:srgbClr val="FF9A00"/>
      </a:hlink>
      <a:folHlink>
        <a:srgbClr val="62D2A2"/>
      </a:folHlink>
    </a:clrScheme>
    <a:fontScheme name="钉钉进步体">
      <a:majorFont>
        <a:latin typeface="钉钉进步体"/>
        <a:ea typeface="钉钉进步体"/>
        <a:cs typeface=""/>
      </a:majorFont>
      <a:minorFont>
        <a:latin typeface="钉钉进步体"/>
        <a:ea typeface="钉钉进步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</TotalTime>
  <Words>326</Words>
  <Application>Microsoft Office PowerPoint</Application>
  <PresentationFormat>宽屏</PresentationFormat>
  <Paragraphs>41</Paragraphs>
  <Slides>17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等线</vt:lpstr>
      <vt:lpstr>钉钉进步体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宣淋 祝</dc:creator>
  <cp:lastModifiedBy>宣淋 祝</cp:lastModifiedBy>
  <cp:revision>340</cp:revision>
  <dcterms:created xsi:type="dcterms:W3CDTF">2025-07-12T08:47:45Z</dcterms:created>
  <dcterms:modified xsi:type="dcterms:W3CDTF">2025-10-12T14:52:20Z</dcterms:modified>
</cp:coreProperties>
</file>